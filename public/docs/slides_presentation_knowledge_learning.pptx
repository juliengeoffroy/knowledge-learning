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20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4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2.xml" ContentType="application/vnd.openxmlformats-officedocument.them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67" r:id="rId3"/>
    <p:sldId id="269" r:id="rId4"/>
    <p:sldId id="268" r:id="rId5"/>
    <p:sldId id="257" r:id="rId6"/>
    <p:sldId id="258" r:id="rId7"/>
    <p:sldId id="259" r:id="rId8"/>
    <p:sldId id="273" r:id="rId9"/>
    <p:sldId id="275" r:id="rId10"/>
    <p:sldId id="274" r:id="rId11"/>
    <p:sldId id="260" r:id="rId12"/>
    <p:sldId id="272" r:id="rId13"/>
    <p:sldId id="261" r:id="rId14"/>
    <p:sldId id="262" r:id="rId15"/>
    <p:sldId id="263" r:id="rId16"/>
    <p:sldId id="271" r:id="rId17"/>
    <p:sldId id="264" r:id="rId18"/>
    <p:sldId id="265" r:id="rId19"/>
    <p:sldId id="266" r:id="rId20"/>
    <p:sldId id="276" r:id="rId21"/>
    <p:sldId id="277" r:id="rId22"/>
    <p:sldId id="270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60" userDrawn="1">
          <p15:clr>
            <a:srgbClr val="A4A3A4"/>
          </p15:clr>
        </p15:guide>
        <p15:guide id="1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tableStyles" Target="tableStyle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en-tête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Espace réservé à la date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/>
          <a:p>
            <a:r>
              <a:rPr lang="en-US" smtClean="0"/>
              <a:t>*</a:t>
            </a:r>
            <a:endParaRPr lang="en-US"/>
          </a:p>
        </p:txBody>
      </p:sp>
      <p:sp>
        <p:nvSpPr>
          <p:cNvPr id="4" name="Espace réservé à l'image de la diapositive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Espace réservé aux notes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altLang="en-US"/>
              <a:t>Cliquez pour modifier les styles du texte principal</a:t>
            </a:r>
            <a:endParaRPr lang="en-US"/>
          </a:p>
          <a:p>
            <a:pPr lvl="1"/>
            <a:r>
              <a:rPr lang="fr-FR" altLang="en-US"/>
              <a:t>Deuxième niveau</a:t>
            </a:r>
            <a:endParaRPr lang="en-US"/>
          </a:p>
          <a:p>
            <a:pPr lvl="2"/>
            <a:r>
              <a:rPr lang="fr-FR" altLang="en-US"/>
              <a:t>Troisième niveau</a:t>
            </a:r>
            <a:endParaRPr lang="en-US"/>
          </a:p>
          <a:p>
            <a:pPr lvl="3"/>
            <a:r>
              <a:rPr lang="fr-FR" altLang="en-US"/>
              <a:t>Quatrième niveau</a:t>
            </a:r>
            <a:endParaRPr lang="en-US"/>
          </a:p>
          <a:p>
            <a:pPr lvl="4"/>
            <a:r>
              <a:rPr lang="fr-FR" altLang="en-US"/>
              <a:t>Cinquième niveau</a:t>
            </a:r>
            <a:endParaRPr lang="en-US"/>
          </a:p>
        </p:txBody>
      </p:sp>
      <p:sp>
        <p:nvSpPr>
          <p:cNvPr id="6" name="Espace réservé à la note de bas de page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7" name="Espace réservé au numéro de diapositive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/>
          <a:p>
            <a:r>
              <a:rPr lang="en-US" smtClean="0"/>
              <a:t>#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336C680-7606-444B-9384-9A055F3F23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0A3799F-0204-4C83-B30C-BA57CCAA83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6044C90-4EBD-4C5E-8008-3537A56FB3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AF0D269-423C-48EB-92C1-F254828F06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76E905D-8E0E-46A8-B5FD-1C860049B0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1D70053-15A9-41F7-8F5C-534820AE18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9ED42D2-37CE-47A0-B745-6D7956C377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AFBBBD4-B208-41DC-B7AB-0329914598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083DF06-6438-4822-84AD-57DA66C352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7BB40ED-138C-4DCF-A0B6-CD18752AE4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EF84920-DDC1-4018-BDCC-C13F059C2A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BDFB15A-3FEA-4403-B9F4-C014B35673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A84D5B3-33B8-4F9A-9CEB-FD97D8D7E7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D44C8A7-1FE7-464D-BFB7-63DCF5C559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EA30276-176E-43F8-A3FF-4FC7F2B63A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B460501-036D-4492-948F-0F0A0D5649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D978804-AC44-4EA1-B75A-296C65BD8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148F917-B04D-4290-9470-93F241B612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38ECA7E-811C-4674-8005-6651D76EFF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0208E32-5E17-4468-96C2-F4B7ABE9D2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564A5CF-5380-42B5-BA0B-D0709B7794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à l'image de la diapositiv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ce réservé au texte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ce réservé au numéro de diapositiv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0820880-B4FC-4904-9196-A79403ADD8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au contenu 6"/>
          <p:cNvSpPr>
            <a:spLocks noGrp="1" noEditPoints="1"/>
          </p:cNvSpPr>
          <p:nvPr>
            <p:ph sz="half" idx="2"/>
          </p:nvPr>
        </p:nvSpPr>
        <p:spPr>
          <a:xfrm>
            <a:off x="1122500" y="6308725"/>
            <a:ext cx="366401" cy="429027"/>
          </a:xfrm>
        </p:spPr>
        <p:txBody>
          <a:bodyPr/>
          <a:lstStyle/>
          <a:p>
            <a:pPr marL="0" indent="0">
              <a:buNone/>
            </a:pPr>
            <a:r>
              <a:rPr lang="fr-FR"/>
              <a:t>1</a:t>
            </a:r>
          </a:p>
        </p:txBody>
      </p:sp>
      <p:sp>
        <p:nvSpPr>
          <p:cNvPr id="2" name="Titre 1"/>
          <p:cNvSpPr>
            <a:spLocks noGrp="1" noEditPoints="1"/>
          </p:cNvSpPr>
          <p:nvPr>
            <p:ph type="title"/>
          </p:nvPr>
        </p:nvSpPr>
        <p:spPr>
          <a:xfrm>
            <a:off x="457200" y="274638"/>
            <a:ext cx="8468269" cy="5140703"/>
          </a:xfrm>
        </p:spPr>
        <p:txBody>
          <a:bodyPr/>
          <a:lstStyle/>
          <a:p>
            <a:r>
              <a:rPr lang="fr-FR" sz="5400" b="1" i="1"/>
              <a:t>KNOWLEDGE LEARNING</a:t>
            </a:r>
            <a:endParaRPr sz="5400" b="1" i="1"/>
          </a:p>
        </p:txBody>
      </p:sp>
      <p:sp>
        <p:nvSpPr>
          <p:cNvPr id="3" name="Espace réservé au contenu 2"/>
          <p:cNvSpPr>
            <a:spLocks noGrp="1" noEditPoints="1"/>
          </p:cNvSpPr>
          <p:nvPr>
            <p:ph sz="half" idx="1"/>
          </p:nvPr>
        </p:nvSpPr>
        <p:spPr>
          <a:xfrm>
            <a:off x="5767582" y="6224411"/>
            <a:ext cx="3277843" cy="513343"/>
          </a:xfrm>
        </p:spPr>
        <p:txBody>
          <a:bodyPr/>
          <a:lstStyle/>
          <a:p>
            <a:r>
              <a:rPr lang="fr-FR" b="1"/>
              <a:t>JULIEN GEOFFROY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/>
              <a:t>PRESENTATION</a:t>
            </a:r>
            <a:endParaRPr b="1" i="1"/>
          </a:p>
        </p:txBody>
      </p:sp>
      <p:sp>
        <p:nvSpPr>
          <p:cNvPr id="3" name="Espace réservé au contenu 2"/>
          <p:cNvSpPr>
            <a:spLocks noGrp="1" noEditPoints="1"/>
          </p:cNvSpPr>
          <p:nvPr>
            <p:ph idx="1"/>
          </p:nvPr>
        </p:nvSpPr>
        <p:spPr>
          <a:xfrm>
            <a:off x="457200" y="1973120"/>
            <a:ext cx="8229600" cy="4153043"/>
          </a:xfrm>
          <a:noFill/>
        </p:spPr>
        <p:txBody>
          <a:bodyPr/>
          <a:lstStyle/>
          <a:p>
            <a:r>
              <a:rPr lang="fr-FR" b="1"/>
              <a:t>Développeur Web Niveaux 5</a:t>
            </a:r>
          </a:p>
          <a:p>
            <a:endParaRPr lang="fr-FR" b="1"/>
          </a:p>
          <a:p>
            <a:r>
              <a:rPr lang="fr-FR" b="1"/>
              <a:t>Projet "Knowledge Learning"</a:t>
            </a:r>
          </a:p>
          <a:p>
            <a:endParaRPr lang="fr-FR" b="1"/>
          </a:p>
          <a:p>
            <a:r>
              <a:rPr lang="fr-FR" b="1"/>
              <a:t>Développé sur VSC avec</a:t>
            </a:r>
            <a:r>
              <a:rPr lang="fr-FR"/>
              <a:t> </a:t>
            </a:r>
          </a:p>
        </p:txBody>
      </p:sp>
      <p:sp>
        <p:nvSpPr>
          <p:cNvPr id="4" name="BoîteDeDialogue 3"/>
          <p:cNvSpPr txBox="1"/>
          <p:nvPr/>
        </p:nvSpPr>
        <p:spPr>
          <a:xfrm>
            <a:off x="835341" y="6339641"/>
            <a:ext cx="360631" cy="366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/>
              <a:t>2</a:t>
            </a:r>
            <a:endParaRPr lang="en-US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 noEditPoints="1"/>
          </p:cNvSpPr>
          <p:nvPr>
            <p:ph type="title"/>
          </p:nvPr>
        </p:nvSpPr>
        <p:spPr>
          <a:xfrm flipH="1">
            <a:off x="0" y="0"/>
            <a:ext cx="9144000" cy="1212363"/>
          </a:xfrm>
        </p:spPr>
        <p:txBody>
          <a:bodyPr/>
          <a:lstStyle/>
          <a:p>
            <a:endParaRPr lang="fr-FR"/>
          </a:p>
          <a:p>
            <a:r>
              <a:rPr lang="fr-FR" sz="5400" b="1" i="1"/>
              <a:t>SOMMAIRE</a:t>
            </a:r>
          </a:p>
          <a:p>
            <a:endParaRPr lang="fr-FR"/>
          </a:p>
        </p:txBody>
      </p:sp>
      <p:sp>
        <p:nvSpPr>
          <p:cNvPr id="3" name="Espace réservé au contenu 2"/>
          <p:cNvSpPr>
            <a:spLocks noGrp="1" noEditPoints="1"/>
          </p:cNvSpPr>
          <p:nvPr>
            <p:ph idx="1"/>
          </p:nvPr>
        </p:nvSpPr>
        <p:spPr>
          <a:xfrm>
            <a:off x="457200" y="1212363"/>
            <a:ext cx="8229600" cy="5271803"/>
          </a:xfrm>
        </p:spPr>
        <p:txBody>
          <a:bodyPr/>
          <a:lstStyle/>
          <a:p>
            <a:pPr marL="0" indent="0">
              <a:buFont typeface="+mj-lt"/>
              <a:buNone/>
            </a:pPr>
            <a:r>
              <a:rPr lang="fr-FR" sz="2800" b="1"/>
              <a:t>1) </a:t>
            </a:r>
            <a:r>
              <a:rPr sz="2800" b="1"/>
              <a:t>Contexte et </a:t>
            </a:r>
            <a:r>
              <a:rPr lang="fr-FR" sz="2800" b="1"/>
              <a:t>E</a:t>
            </a:r>
            <a:r>
              <a:rPr sz="2800" b="1"/>
              <a:t>ntreprise</a:t>
            </a:r>
            <a:endParaRPr lang="fr-FR" sz="2800" b="1"/>
          </a:p>
          <a:p>
            <a:pPr marL="0" indent="0">
              <a:buNone/>
            </a:pPr>
            <a:r>
              <a:rPr lang="fr-FR" sz="2400" b="1"/>
              <a:t>2) Périmètre</a:t>
            </a:r>
            <a:r>
              <a:rPr sz="2800" b="1"/>
              <a:t> et </a:t>
            </a:r>
            <a:r>
              <a:rPr lang="fr-FR" sz="2800" b="1"/>
              <a:t>C</a:t>
            </a:r>
            <a:r>
              <a:rPr sz="2800" b="1"/>
              <a:t>ontraintes</a:t>
            </a:r>
            <a:endParaRPr lang="fr-FR" sz="2800" b="1"/>
          </a:p>
          <a:p>
            <a:pPr marL="0" indent="0">
              <a:buNone/>
            </a:pPr>
            <a:r>
              <a:rPr lang="fr-FR" sz="2800" b="1"/>
              <a:t>3) </a:t>
            </a:r>
            <a:r>
              <a:rPr sz="2800" b="1"/>
              <a:t>Maquettage</a:t>
            </a:r>
            <a:endParaRPr lang="fr-FR" sz="2800" b="1"/>
          </a:p>
          <a:p>
            <a:pPr marL="0" indent="0">
              <a:buNone/>
            </a:pPr>
            <a:r>
              <a:rPr lang="fr-FR" sz="2800" b="1"/>
              <a:t>4) </a:t>
            </a:r>
            <a:r>
              <a:rPr sz="2800" b="1"/>
              <a:t>Conception de la BDD</a:t>
            </a:r>
            <a:endParaRPr lang="fr-FR" sz="2800" b="1"/>
          </a:p>
          <a:p>
            <a:pPr marL="0" indent="0">
              <a:buNone/>
            </a:pPr>
            <a:r>
              <a:rPr lang="fr-FR" sz="2800" b="1"/>
              <a:t>5) </a:t>
            </a:r>
            <a:r>
              <a:rPr sz="2800" b="1"/>
              <a:t>Fonctionnalités </a:t>
            </a:r>
            <a:r>
              <a:rPr lang="fr-FR" sz="2800" b="1"/>
              <a:t>P</a:t>
            </a:r>
            <a:r>
              <a:rPr sz="2800" b="1"/>
              <a:t>rincipales</a:t>
            </a:r>
            <a:endParaRPr lang="fr-FR" sz="2800" b="1"/>
          </a:p>
          <a:p>
            <a:pPr marL="0" indent="0">
              <a:buNone/>
            </a:pPr>
            <a:r>
              <a:rPr sz="2800" b="1"/>
              <a:t>6</a:t>
            </a:r>
            <a:r>
              <a:rPr lang="fr-FR" sz="2800" b="1"/>
              <a:t>)</a:t>
            </a:r>
            <a:r>
              <a:rPr sz="2800" b="1"/>
              <a:t> DAO / Accès aux </a:t>
            </a:r>
            <a:r>
              <a:rPr lang="fr-FR" sz="2800" b="1"/>
              <a:t>D</a:t>
            </a:r>
            <a:r>
              <a:rPr sz="2800" b="1"/>
              <a:t>onnées</a:t>
            </a:r>
            <a:endParaRPr lang="fr-FR" sz="2800" b="1"/>
          </a:p>
          <a:p>
            <a:pPr marL="0" indent="0">
              <a:buNone/>
            </a:pPr>
            <a:r>
              <a:rPr sz="2800" b="1"/>
              <a:t>7</a:t>
            </a:r>
            <a:r>
              <a:rPr lang="fr-FR" sz="2800" b="1"/>
              <a:t>)</a:t>
            </a:r>
            <a:r>
              <a:rPr sz="2800" b="1"/>
              <a:t> E-</a:t>
            </a:r>
            <a:r>
              <a:rPr lang="fr-FR" sz="2800" b="1"/>
              <a:t>C</a:t>
            </a:r>
            <a:r>
              <a:rPr sz="2800" b="1"/>
              <a:t>ommerce </a:t>
            </a:r>
            <a:r>
              <a:rPr lang="fr-FR" sz="2800" b="1"/>
              <a:t>In</a:t>
            </a:r>
            <a:r>
              <a:rPr sz="2800" b="1"/>
              <a:t>tégré</a:t>
            </a:r>
            <a:endParaRPr lang="fr-FR" sz="2800" b="1"/>
          </a:p>
          <a:p>
            <a:pPr marL="0" indent="0">
              <a:buNone/>
            </a:pPr>
            <a:r>
              <a:rPr sz="2800" b="1"/>
              <a:t>8</a:t>
            </a:r>
            <a:r>
              <a:rPr lang="fr-FR" sz="2800" b="1"/>
              <a:t>) </a:t>
            </a:r>
            <a:r>
              <a:rPr sz="2800" b="1"/>
              <a:t>Tests intégrés</a:t>
            </a:r>
            <a:endParaRPr lang="fr-FR" sz="2800" b="1"/>
          </a:p>
          <a:p>
            <a:pPr marL="0" indent="0">
              <a:buNone/>
            </a:pPr>
            <a:r>
              <a:rPr sz="2800" b="1"/>
              <a:t>9</a:t>
            </a:r>
            <a:r>
              <a:rPr lang="fr-FR" sz="2800" b="1"/>
              <a:t>)</a:t>
            </a:r>
            <a:r>
              <a:rPr sz="2800" b="1"/>
              <a:t> Outils utilisés</a:t>
            </a:r>
            <a:endParaRPr lang="fr-FR" sz="2800" b="1"/>
          </a:p>
          <a:p>
            <a:pPr marL="0" indent="0">
              <a:buNone/>
            </a:pPr>
            <a:r>
              <a:rPr sz="3200" b="1"/>
              <a:t>10</a:t>
            </a:r>
            <a:r>
              <a:rPr lang="fr-FR" sz="3200" b="1"/>
              <a:t>)</a:t>
            </a:r>
            <a:r>
              <a:rPr sz="3200" b="1"/>
              <a:t> Versioning / Hébergement</a:t>
            </a:r>
            <a:endParaRPr b="1"/>
          </a:p>
          <a:p>
            <a:pPr marL="0" indent="0">
              <a:buNone/>
            </a:pPr>
            <a:endParaRPr lang="fr-FR" sz="2800" b="1"/>
          </a:p>
          <a:p>
            <a:pPr marL="0" indent="0"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pPr marL="0" indent="0">
              <a:buFont typeface="+mj-lt"/>
              <a:buNone/>
            </a:pPr>
            <a:endParaRPr lang="fr-FR"/>
          </a:p>
        </p:txBody>
      </p:sp>
      <p:sp>
        <p:nvSpPr>
          <p:cNvPr id="4" name="BoîteDeDialogue 3"/>
          <p:cNvSpPr txBox="1"/>
          <p:nvPr/>
        </p:nvSpPr>
        <p:spPr>
          <a:xfrm>
            <a:off x="686173" y="6563393"/>
            <a:ext cx="298743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3</a:t>
            </a:r>
            <a:endParaRPr 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 i="1"/>
              <a:t>1. Contexte et </a:t>
            </a:r>
            <a:r>
              <a:rPr lang="fr-FR" b="1" i="1"/>
              <a:t>E</a:t>
            </a:r>
            <a:r>
              <a:rPr b="1" i="1"/>
              <a:t>ntreprise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Entreprise fictive : KNOWLEDGE LEARNING</a:t>
            </a:r>
          </a:p>
          <a:p>
            <a:r>
              <a:rPr b="1"/>
              <a:t>Projet : création d’une plateforme e-learning Symfony pour cours thématiques (Musique, Cuisine, etc.) avec certifications.</a:t>
            </a:r>
          </a:p>
          <a:p>
            <a:r>
              <a:rPr b="1"/>
              <a:t>Objectif : vendre des cursus ou leçons, suivre la progression et générer un certificat final</a:t>
            </a:r>
            <a:r>
              <a:t>.</a:t>
            </a:r>
          </a:p>
        </p:txBody>
      </p:sp>
      <p:sp>
        <p:nvSpPr>
          <p:cNvPr id="4" name="BoîteDeDialogue 3"/>
          <p:cNvSpPr txBox="1"/>
          <p:nvPr/>
        </p:nvSpPr>
        <p:spPr>
          <a:xfrm>
            <a:off x="457200" y="6205390"/>
            <a:ext cx="298743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 i="1"/>
              <a:t>2. Périmètre et contraintes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- Front-office utilisateur et back-office admin</a:t>
            </a:r>
          </a:p>
          <a:p>
            <a:r>
              <a:rPr b="1"/>
              <a:t>- Cursus + Leçons, achats sécurisés (Stripe), progression, certificat PDF</a:t>
            </a:r>
          </a:p>
          <a:p>
            <a:r>
              <a:rPr b="1"/>
              <a:t>- Authentification, rôles, tests, base conforme au brief</a:t>
            </a:r>
          </a:p>
          <a:p>
            <a:r>
              <a:rPr b="1"/>
              <a:t>- Contraintes : Symfony, architecture MVC, livrable complet GitHub + soutenance</a:t>
            </a:r>
          </a:p>
        </p:txBody>
      </p:sp>
      <p:sp>
        <p:nvSpPr>
          <p:cNvPr id="4" name="BoîteDeDialogue 3"/>
          <p:cNvSpPr txBox="1"/>
          <p:nvPr/>
        </p:nvSpPr>
        <p:spPr>
          <a:xfrm>
            <a:off x="686173" y="6429142"/>
            <a:ext cx="298743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 i="1"/>
              <a:t>3. Maquettage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- Base Twig commune (base.html.twig)</a:t>
            </a:r>
          </a:p>
          <a:p>
            <a:r>
              <a:rPr b="1"/>
              <a:t>- Pages : accueil, cours, mes cours, login, admin</a:t>
            </a:r>
          </a:p>
          <a:p>
            <a:r>
              <a:rPr b="1"/>
              <a:t>- Styles : CSS + images de fond + responsive</a:t>
            </a:r>
          </a:p>
          <a:p>
            <a:r>
              <a:rPr b="1"/>
              <a:t>- Structure validée avec wireframes</a:t>
            </a:r>
          </a:p>
        </p:txBody>
      </p:sp>
      <p:sp>
        <p:nvSpPr>
          <p:cNvPr id="4" name="BoîteDeDialogue 3"/>
          <p:cNvSpPr txBox="1"/>
          <p:nvPr/>
        </p:nvSpPr>
        <p:spPr>
          <a:xfrm>
            <a:off x="745840" y="6339641"/>
            <a:ext cx="298743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6</a:t>
            </a:r>
            <a:endParaRPr lang="en-US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a) Maquettage Connection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3118" y="1562680"/>
            <a:ext cx="8237764" cy="4583604"/>
          </a:xfrm>
          <a:prstGeom prst="rect">
            <a:avLst/>
          </a:prstGeom>
        </p:spPr>
      </p:pic>
      <p:sp>
        <p:nvSpPr>
          <p:cNvPr id="6" name="BoîteDeDialogue 5"/>
          <p:cNvSpPr txBox="1"/>
          <p:nvPr/>
        </p:nvSpPr>
        <p:spPr>
          <a:xfrm>
            <a:off x="696244" y="6382234"/>
            <a:ext cx="298743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7</a:t>
            </a:r>
            <a:endParaRPr lang="en-US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b) Maquettage Cours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21600000">
            <a:off x="163230" y="1525942"/>
            <a:ext cx="4408770" cy="469784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11249" y="1525942"/>
            <a:ext cx="4297085" cy="4620484"/>
          </a:xfrm>
          <a:prstGeom prst="rect">
            <a:avLst/>
          </a:prstGeom>
        </p:spPr>
      </p:pic>
      <p:sp>
        <p:nvSpPr>
          <p:cNvPr id="8" name="BoîteDeDialogue 7"/>
          <p:cNvSpPr txBox="1"/>
          <p:nvPr/>
        </p:nvSpPr>
        <p:spPr>
          <a:xfrm>
            <a:off x="649827" y="6552426"/>
            <a:ext cx="298743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c) Maquettage Certificats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780246"/>
            <a:ext cx="8229600" cy="4349610"/>
          </a:xfrm>
          <a:prstGeom prst="rect">
            <a:avLst/>
          </a:prstGeom>
        </p:spPr>
      </p:pic>
      <p:sp>
        <p:nvSpPr>
          <p:cNvPr id="4" name="BoîteDeDialogue 3"/>
          <p:cNvSpPr txBox="1"/>
          <p:nvPr/>
        </p:nvSpPr>
        <p:spPr>
          <a:xfrm>
            <a:off x="742660" y="6444122"/>
            <a:ext cx="298743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9</a:t>
            </a:r>
            <a:endParaRPr lang="en-US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 i="1"/>
              <a:t>4. Conception de la BDD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- Conception avec UML2 (diagramme de classes)</a:t>
            </a:r>
          </a:p>
          <a:p>
            <a:r>
              <a:t>- Entités : User, Theme, Course, Lesson, Purchase, Progress, Certificate</a:t>
            </a:r>
          </a:p>
          <a:p>
            <a:r>
              <a:t>- Relations : OneToMany et ManyToOne entre toutes les entités</a:t>
            </a:r>
          </a:p>
          <a:p>
            <a:r>
              <a:t>- Doctrine ORM + migrations</a:t>
            </a:r>
          </a:p>
        </p:txBody>
      </p:sp>
      <p:sp>
        <p:nvSpPr>
          <p:cNvPr id="4" name="BoîteDeDialogue 3"/>
          <p:cNvSpPr txBox="1"/>
          <p:nvPr/>
        </p:nvSpPr>
        <p:spPr>
          <a:xfrm rot="271436">
            <a:off x="711458" y="6360358"/>
            <a:ext cx="414605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10</a:t>
            </a:r>
            <a:endParaRPr lang="en-US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 noEditPoints="1"/>
          </p:cNvSpPr>
          <p:nvPr>
            <p:ph type="title"/>
          </p:nvPr>
        </p:nvSpPr>
        <p:spPr>
          <a:xfrm>
            <a:off x="457200" y="155304"/>
            <a:ext cx="8229600" cy="1262334"/>
          </a:xfrm>
        </p:spPr>
        <p:txBody>
          <a:bodyPr/>
          <a:lstStyle/>
          <a:p>
            <a:r>
              <a:rPr lang="fr-FR" b="1" i="1"/>
              <a:t>BASE DE DONNEES</a:t>
            </a:r>
          </a:p>
          <a:p>
            <a:r>
              <a:rPr lang="fr-FR" sz="3600"/>
              <a:t>CONCEPTION DU MLD</a:t>
            </a:r>
            <a:r>
              <a:rPr lang="fr-FR" sz="4000"/>
              <a:t>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515042"/>
            <a:ext cx="9144000" cy="4970038"/>
          </a:xfrm>
          <a:prstGeom prst="rect">
            <a:avLst/>
          </a:prstGeom>
        </p:spPr>
      </p:pic>
      <p:sp>
        <p:nvSpPr>
          <p:cNvPr id="5" name="BoîteDeDialogue 4"/>
          <p:cNvSpPr txBox="1"/>
          <p:nvPr/>
        </p:nvSpPr>
        <p:spPr>
          <a:xfrm>
            <a:off x="1039743" y="6491199"/>
            <a:ext cx="414605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11</a:t>
            </a:r>
            <a:endParaRPr lang="en-US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457200" y="274638"/>
            <a:ext cx="8229600" cy="910919"/>
          </a:xfrm>
        </p:spPr>
        <p:txBody>
          <a:bodyPr/>
          <a:lstStyle/>
          <a:p>
            <a:r>
              <a:rPr b="1" i="1"/>
              <a:t>5. Fonctionnalités principales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457200" y="1185557"/>
            <a:ext cx="8229600" cy="4940606"/>
          </a:xfrm>
        </p:spPr>
        <p:txBody>
          <a:bodyPr/>
          <a:lstStyle/>
          <a:p>
            <a:r>
              <a:t>- Création de compte avec mail + rôles</a:t>
            </a:r>
            <a:endParaRPr lang="fr-FR"/>
          </a:p>
          <a:p>
            <a:endParaRPr lang="fr-FR"/>
          </a:p>
          <a:p>
            <a:r>
              <a:t>- Achat de cursus ou leçon (Stripe sandbox)</a:t>
            </a:r>
            <a:endParaRPr lang="fr-FR"/>
          </a:p>
          <a:p>
            <a:endParaRPr lang="fr-FR"/>
          </a:p>
          <a:p>
            <a:r>
              <a:t>- Suivi de la progression et validation des leçons</a:t>
            </a:r>
            <a:endParaRPr lang="fr-FR"/>
          </a:p>
          <a:p>
            <a:endParaRPr lang="fr-FR"/>
          </a:p>
          <a:p>
            <a:r>
              <a:t>- Génération automatique du certificat PDF</a:t>
            </a:r>
          </a:p>
        </p:txBody>
      </p:sp>
      <p:sp>
        <p:nvSpPr>
          <p:cNvPr id="4" name="BoîteDeDialogue 3"/>
          <p:cNvSpPr txBox="1"/>
          <p:nvPr/>
        </p:nvSpPr>
        <p:spPr>
          <a:xfrm>
            <a:off x="804548" y="6242985"/>
            <a:ext cx="414605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12</a:t>
            </a:r>
            <a:endParaRPr lang="en-US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 i="1"/>
              <a:t>6. DAO / Accès aux données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- Doctrine ORM utilisé avec Repository</a:t>
            </a:r>
            <a:endParaRPr lang="fr-FR"/>
          </a:p>
          <a:p>
            <a:endParaRPr lang="fr-FR"/>
          </a:p>
          <a:p>
            <a:r>
              <a:t>- Requêtes personnalisées dans les repositories</a:t>
            </a:r>
            <a:endParaRPr lang="fr-FR"/>
          </a:p>
          <a:p>
            <a:endParaRPr lang="fr-FR"/>
          </a:p>
          <a:p>
            <a:r>
              <a:t>- Affichage des données via Twig (cours, progression, certificat)</a:t>
            </a:r>
          </a:p>
        </p:txBody>
      </p:sp>
      <p:sp>
        <p:nvSpPr>
          <p:cNvPr id="5" name="BoîteDeDialogue 4"/>
          <p:cNvSpPr txBox="1"/>
          <p:nvPr/>
        </p:nvSpPr>
        <p:spPr>
          <a:xfrm flipH="1">
            <a:off x="649130" y="6351987"/>
            <a:ext cx="480332" cy="366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/>
              <a:t>13</a:t>
            </a:r>
            <a:endParaRPr lang="en-US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 i="1"/>
              <a:t>7. E-commerce intégré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- Intégration de Stripe sandbox pour achats</a:t>
            </a:r>
            <a:endParaRPr lang="fr-FR"/>
          </a:p>
          <a:p>
            <a:endParaRPr lang="fr-FR"/>
          </a:p>
          <a:p>
            <a:r>
              <a:t>- Simulation de paiements</a:t>
            </a:r>
            <a:endParaRPr lang="fr-FR"/>
          </a:p>
          <a:p>
            <a:endParaRPr lang="fr-FR"/>
          </a:p>
          <a:p>
            <a:r>
              <a:t>- Ajout au panier, validation, redirection, confirmation</a:t>
            </a:r>
          </a:p>
        </p:txBody>
      </p:sp>
      <p:sp>
        <p:nvSpPr>
          <p:cNvPr id="4" name="BoîteDeDialogue 3"/>
          <p:cNvSpPr txBox="1"/>
          <p:nvPr/>
        </p:nvSpPr>
        <p:spPr>
          <a:xfrm>
            <a:off x="959269" y="6134680"/>
            <a:ext cx="414605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14</a:t>
            </a:r>
            <a:endParaRPr lang="en-US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 noEditPoints="1"/>
          </p:cNvSpPr>
          <p:nvPr>
            <p:ph type="title"/>
          </p:nvPr>
        </p:nvSpPr>
        <p:spPr>
          <a:xfrm>
            <a:off x="457200" y="95636"/>
            <a:ext cx="8229600" cy="1023666"/>
          </a:xfrm>
        </p:spPr>
        <p:txBody>
          <a:bodyPr/>
          <a:lstStyle/>
          <a:p>
            <a:r>
              <a:rPr lang="fr-FR"/>
              <a:t>MODE DE PAYEMENT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9363" y="1119302"/>
            <a:ext cx="4502637" cy="5414257"/>
          </a:xfrm>
          <a:prstGeom prst="rect">
            <a:avLst/>
          </a:prstGeom>
        </p:spPr>
      </p:pic>
      <p:sp>
        <p:nvSpPr>
          <p:cNvPr id="7" name="BoîteDeDialogue 6"/>
          <p:cNvSpPr txBox="1"/>
          <p:nvPr/>
        </p:nvSpPr>
        <p:spPr>
          <a:xfrm>
            <a:off x="581755" y="6533559"/>
            <a:ext cx="414605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15</a:t>
            </a:r>
            <a:endParaRPr lang="en-US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0" y="1119302"/>
            <a:ext cx="4297931" cy="54142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 i="1"/>
              <a:t>8. Tests intégrés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- Tests unitaires pour progression et achat</a:t>
            </a:r>
            <a:endParaRPr lang="fr-FR"/>
          </a:p>
          <a:p>
            <a:endParaRPr lang="fr-FR"/>
          </a:p>
          <a:p>
            <a:r>
              <a:t>- Tests fonctionnels pour affichage des cours, génération de certificat</a:t>
            </a:r>
            <a:endParaRPr lang="fr-FR"/>
          </a:p>
          <a:p>
            <a:endParaRPr lang="fr-FR"/>
          </a:p>
          <a:p>
            <a:r>
              <a:t>- Tests dans dossier /tests + TestFixtures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457200" y="104445"/>
            <a:ext cx="8229600" cy="756198"/>
          </a:xfrm>
        </p:spPr>
        <p:txBody>
          <a:bodyPr/>
          <a:lstStyle/>
          <a:p>
            <a:r>
              <a:rPr b="1" i="1"/>
              <a:t>9. Outils utilisés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457200" y="860643"/>
            <a:ext cx="8229600" cy="5280992"/>
          </a:xfrm>
        </p:spPr>
        <p:txBody>
          <a:bodyPr/>
          <a:lstStyle/>
          <a:p>
            <a:r>
              <a:t>- Symfony 6.3</a:t>
            </a:r>
            <a:endParaRPr lang="fr-FR"/>
          </a:p>
          <a:p>
            <a:endParaRPr lang="fr-FR"/>
          </a:p>
          <a:p>
            <a:r>
              <a:t>- Composer, PHP 8.2, Doctrine ORM</a:t>
            </a:r>
            <a:endParaRPr lang="fr-FR"/>
          </a:p>
          <a:p>
            <a:endParaRPr lang="fr-FR"/>
          </a:p>
          <a:p>
            <a:r>
              <a:t>- PHPUnit, GitHub, VSCode</a:t>
            </a:r>
            <a:endParaRPr lang="fr-FR"/>
          </a:p>
          <a:p>
            <a:endParaRPr lang="fr-FR"/>
          </a:p>
          <a:p>
            <a:r>
              <a:t>- Stripe (test), EmailVerifierBundle</a:t>
            </a:r>
            <a:endParaRPr lang="fr-FR"/>
          </a:p>
          <a:p>
            <a:endParaRPr lang="fr-FR"/>
          </a:p>
          <a:p>
            <a:r>
              <a:t>- Hébergement local + captures</a:t>
            </a:r>
          </a:p>
        </p:txBody>
      </p:sp>
      <p:sp>
        <p:nvSpPr>
          <p:cNvPr id="4" name="BoîteDeDialogue 3"/>
          <p:cNvSpPr txBox="1"/>
          <p:nvPr/>
        </p:nvSpPr>
        <p:spPr>
          <a:xfrm>
            <a:off x="680772" y="6227513"/>
            <a:ext cx="414605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16</a:t>
            </a:r>
            <a:endParaRPr lang="en-US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 i="1"/>
              <a:t>10. Versioning / Hébergement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- Versionné avec Git + GitHub</a:t>
            </a:r>
            <a:endParaRPr lang="fr-FR"/>
          </a:p>
          <a:p>
            <a:endParaRPr lang="fr-FR"/>
          </a:p>
          <a:p>
            <a:r>
              <a:t>- README.md complet</a:t>
            </a:r>
            <a:endParaRPr lang="fr-FR"/>
          </a:p>
          <a:p>
            <a:endParaRPr lang="fr-FR"/>
          </a:p>
          <a:p>
            <a:r>
              <a:t>- Documentation PDF + Slides</a:t>
            </a:r>
            <a:endParaRPr lang="fr-FR"/>
          </a:p>
          <a:p>
            <a:endParaRPr lang="fr-FR"/>
          </a:p>
          <a:p>
            <a:r>
              <a:t>- Hébergement local Symfony + BDD MariaDB</a:t>
            </a:r>
          </a:p>
          <a:p/>
          <a:p>
            <a:pPr marL="0" indent="0">
              <a:buNone/>
            </a:pPr>
          </a:p>
        </p:txBody>
      </p:sp>
      <p:sp>
        <p:nvSpPr>
          <p:cNvPr id="4" name="BoîteDeDialogue 3"/>
          <p:cNvSpPr txBox="1"/>
          <p:nvPr/>
        </p:nvSpPr>
        <p:spPr>
          <a:xfrm>
            <a:off x="773604" y="6335817"/>
            <a:ext cx="414605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17</a:t>
            </a:r>
            <a:endParaRPr lang="en-US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 noEditPoints="1"/>
          </p:cNvSpPr>
          <p:nvPr>
            <p:ph type="title"/>
          </p:nvPr>
        </p:nvSpPr>
        <p:spPr>
          <a:xfrm>
            <a:off x="457200" y="274638"/>
            <a:ext cx="8229600" cy="756198"/>
          </a:xfrm>
        </p:spPr>
        <p:txBody>
          <a:bodyPr/>
          <a:lstStyle/>
          <a:p>
            <a:r>
              <a:rPr lang="fr-FR" sz="4000" b="1"/>
              <a:t>VERSION ET GESTION DU PROJET</a:t>
            </a:r>
            <a:endParaRPr sz="4000" b="1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113990"/>
            <a:ext cx="8229600" cy="5233431"/>
          </a:xfrm>
          <a:prstGeom prst="rect">
            <a:avLst/>
          </a:prstGeom>
        </p:spPr>
      </p:pic>
      <p:sp>
        <p:nvSpPr>
          <p:cNvPr id="5" name="BoîteDeDialogue 4"/>
          <p:cNvSpPr txBox="1"/>
          <p:nvPr/>
        </p:nvSpPr>
        <p:spPr>
          <a:xfrm>
            <a:off x="742660" y="6506010"/>
            <a:ext cx="414605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18</a:t>
            </a:r>
            <a:endParaRPr lang="en-US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 noEditPoints="1"/>
          </p:cNvSpPr>
          <p:nvPr>
            <p:ph type="title"/>
          </p:nvPr>
        </p:nvSpPr>
        <p:spPr>
          <a:xfrm>
            <a:off x="457200" y="274638"/>
            <a:ext cx="8229600" cy="756198"/>
          </a:xfrm>
        </p:spPr>
        <p:txBody>
          <a:bodyPr/>
          <a:lstStyle/>
          <a:p>
            <a:r>
              <a:rPr lang="fr-FR" sz="4000" b="1"/>
              <a:t>VERSION ET GESTION DU PROJET</a:t>
            </a:r>
            <a:endParaRPr sz="4000" b="1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030836"/>
            <a:ext cx="8229600" cy="5316585"/>
          </a:xfrm>
          <a:prstGeom prst="rect">
            <a:avLst/>
          </a:prstGeom>
        </p:spPr>
      </p:pic>
      <p:sp>
        <p:nvSpPr>
          <p:cNvPr id="6" name="BoîteDeDialogue 5"/>
          <p:cNvSpPr txBox="1"/>
          <p:nvPr/>
        </p:nvSpPr>
        <p:spPr>
          <a:xfrm>
            <a:off x="835492" y="6459594"/>
            <a:ext cx="414605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19</a:t>
            </a:r>
            <a:endParaRPr lang="en-US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/>
              <a:t>CONCLUSION</a:t>
            </a:r>
            <a:endParaRPr b="1" i="1"/>
          </a:p>
        </p:txBody>
      </p:sp>
      <p:sp>
        <p:nvSpPr>
          <p:cNvPr id="3" name="Espace réservé au contenu 2"/>
          <p:cNvSpPr>
            <a:spLocks noGrp="1" noEditPoints="1"/>
          </p:cNvSpPr>
          <p:nvPr>
            <p:ph idx="1"/>
          </p:nvPr>
        </p:nvSpPr>
        <p:spPr>
          <a:xfrm>
            <a:off x="457200" y="1503516"/>
            <a:ext cx="8229600" cy="4622647"/>
          </a:xfrm>
        </p:spPr>
        <p:txBody>
          <a:bodyPr/>
          <a:lstStyle/>
          <a:p>
            <a:r>
              <a:rPr lang="fr-FR" b="1"/>
              <a:t>Réalisation du projet de A à Z</a:t>
            </a:r>
          </a:p>
          <a:p>
            <a:endParaRPr lang="fr-FR" b="1"/>
          </a:p>
          <a:p>
            <a:r>
              <a:rPr lang="fr-FR" b="1"/>
              <a:t>J'ai assimiler de nouvelle compétence</a:t>
            </a:r>
          </a:p>
          <a:p>
            <a:endParaRPr lang="fr-FR" b="1"/>
          </a:p>
          <a:p>
            <a:r>
              <a:rPr lang="fr-FR" b="1"/>
              <a:t>Expérience enrichissante et pas facile a tous comprendre du premier coup</a:t>
            </a:r>
          </a:p>
          <a:p>
            <a:endParaRPr lang="fr-FR" b="1"/>
          </a:p>
          <a:p>
            <a:r>
              <a:rPr b="1"/>
              <a:t>Merci pour votre attention !</a:t>
            </a:r>
            <a:endParaRPr lang="fr-FR" b="1"/>
          </a:p>
        </p:txBody>
      </p:sp>
      <p:sp>
        <p:nvSpPr>
          <p:cNvPr id="4" name="BoîteDeDialogue 3"/>
          <p:cNvSpPr txBox="1"/>
          <p:nvPr/>
        </p:nvSpPr>
        <p:spPr>
          <a:xfrm>
            <a:off x="680772" y="6212041"/>
            <a:ext cx="414605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20</a:t>
            </a:r>
            <a:endParaRPr lang="en-US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 noEditPoints="1"/>
          </p:cNvSpPr>
          <p:nvPr>
            <p:ph type="title"/>
          </p:nvPr>
        </p:nvSpPr>
        <p:spPr>
          <a:xfrm>
            <a:off x="457200" y="2688283"/>
            <a:ext cx="8229600" cy="1607162"/>
          </a:xfrm>
        </p:spPr>
        <p:txBody>
          <a:bodyPr/>
          <a:lstStyle/>
          <a:p>
            <a:r>
              <a:rPr lang="fr-FR" sz="5400" b="1"/>
              <a:t>QUESTIONS</a:t>
            </a:r>
            <a:endParaRPr b="1"/>
          </a:p>
        </p:txBody>
      </p:sp>
      <p:sp>
        <p:nvSpPr>
          <p:cNvPr id="4" name="BoîteDeDialogue 3"/>
          <p:cNvSpPr txBox="1"/>
          <p:nvPr/>
        </p:nvSpPr>
        <p:spPr>
          <a:xfrm>
            <a:off x="943797" y="6335817"/>
            <a:ext cx="414605" cy="36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21</a:t>
            </a:r>
            <a:endParaRPr lang="en-US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julien geoffroy</cp:lastModifiedBy>
  <cp:revision>1</cp:revision>
  <dcterms:created xsi:type="dcterms:W3CDTF">2013-01-27T09:14:16Z</dcterms:created>
  <dcterms:modified xsi:type="dcterms:W3CDTF">2026-03-07T08:18:38Z</dcterms:modified>
  <cp:category/>
</cp:coreProperties>
</file>